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Host Grotesk Medium" panose="020B0604020202020204" charset="0"/>
      <p:regular r:id="rId13"/>
    </p:embeddedFont>
    <p:embeddedFont>
      <p:font typeface="Roboto" panose="02000000000000000000" pitchFamily="2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1283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0E116-8ACE-BB96-1ECA-599ED9D70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3BA75-48CA-039A-995A-0205B3C36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39D37-51AB-E05F-B525-9E8E4AD6E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11094-1769-2CE2-1237-88D9D68717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218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9781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 Virtual Mouse Using Hand Gestures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96394"/>
            <a:ext cx="472276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real-time, touchless human-computer interaction system powered by Computer Vision and Artificial Intelligence.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281065"/>
            <a:ext cx="467618" cy="264616"/>
          </a:xfrm>
          <a:prstGeom prst="roundRect">
            <a:avLst>
              <a:gd name="adj" fmla="val 18001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14936" y="3328318"/>
            <a:ext cx="745182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463579" y="3281065"/>
            <a:ext cx="737964" cy="264616"/>
          </a:xfrm>
          <a:prstGeom prst="roundRect">
            <a:avLst>
              <a:gd name="adj" fmla="val 18001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53396" y="3328318"/>
            <a:ext cx="1015529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ELECTRON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272385" y="3281065"/>
            <a:ext cx="761405" cy="264616"/>
          </a:xfrm>
          <a:prstGeom prst="roundRect">
            <a:avLst>
              <a:gd name="adj" fmla="val 18001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62203" y="3328318"/>
            <a:ext cx="1038969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MEDIAPIPE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104632" y="3281065"/>
            <a:ext cx="658713" cy="264616"/>
          </a:xfrm>
          <a:prstGeom prst="roundRect">
            <a:avLst>
              <a:gd name="adj" fmla="val 18001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4450" y="3328318"/>
            <a:ext cx="936278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ROBOTJS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834187" y="3281065"/>
            <a:ext cx="284411" cy="264616"/>
          </a:xfrm>
          <a:prstGeom prst="roundRect">
            <a:avLst>
              <a:gd name="adj" fmla="val 18001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24005" y="3328318"/>
            <a:ext cx="561975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4132" y="342230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34132" y="892522"/>
            <a:ext cx="4846737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Virtual Mouse</a:t>
            </a: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 Computer Vision project that replaces the physical mouse with hand gestures captured through a standard webcam. By combining AI-powered gesture recognition with real-time cursor control, it creates a fully touchless human-computer interaction system.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34132" y="1712268"/>
            <a:ext cx="4846737" cy="690860"/>
          </a:xfrm>
          <a:prstGeom prst="roundRect">
            <a:avLst>
              <a:gd name="adj" fmla="val 754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2868" y="184100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🖱</a:t>
            </a: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Move Cursor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2868" y="2099965"/>
            <a:ext cx="4589264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Index finger directs pointer position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34132" y="2511623"/>
            <a:ext cx="4846737" cy="690860"/>
          </a:xfrm>
          <a:prstGeom prst="roundRect">
            <a:avLst>
              <a:gd name="adj" fmla="val 754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2868" y="264036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👆</a:t>
            </a: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Click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2868" y="2899321"/>
            <a:ext cx="4589264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Pinch gestures trigger clicks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4132" y="3310979"/>
            <a:ext cx="4846737" cy="690860"/>
          </a:xfrm>
          <a:prstGeom prst="roundRect">
            <a:avLst>
              <a:gd name="adj" fmla="val 754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2868" y="343971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🔄</a:t>
            </a: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Scroll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2868" y="3698677"/>
            <a:ext cx="4589264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palm controls scrolling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4132" y="4110335"/>
            <a:ext cx="4846737" cy="690860"/>
          </a:xfrm>
          <a:prstGeom prst="roundRect">
            <a:avLst>
              <a:gd name="adj" fmla="val 754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2868" y="423907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⚡</a:t>
            </a: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Touchless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2868" y="4498032"/>
            <a:ext cx="4589264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physical contact required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0235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99704"/>
            <a:ext cx="31140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Why Traditional Mouse Fall Short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62919"/>
            <a:ext cx="3902943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pointing devices create barriers in modern computing environments — from accessibility challenges to hygiene concerns in shared spaces.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1657945"/>
            <a:ext cx="4107135" cy="1270322"/>
          </a:xfrm>
          <a:prstGeom prst="roundRect">
            <a:avLst>
              <a:gd name="adj" fmla="val 8035"/>
            </a:avLst>
          </a:prstGeom>
          <a:solidFill>
            <a:srgbClr val="FA95AF"/>
          </a:solidFill>
          <a:ln/>
        </p:spPr>
      </p:sp>
      <p:sp>
        <p:nvSpPr>
          <p:cNvPr id="6" name="Text 4"/>
          <p:cNvSpPr/>
          <p:nvPr/>
        </p:nvSpPr>
        <p:spPr>
          <a:xfrm>
            <a:off x="4789363" y="179970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Our Solution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89363" y="2162919"/>
            <a:ext cx="3823618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delivers a fully touchless, AI-driven alternative — enabling cursor control, clicks, and scrolling through natural hand gestures alone.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119" y="3087737"/>
            <a:ext cx="2622724" cy="1053331"/>
          </a:xfrm>
          <a:prstGeom prst="roundRect">
            <a:avLst>
              <a:gd name="adj" fmla="val 8681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69" y="3087737"/>
            <a:ext cx="76200" cy="105333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4077" y="32485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Physical Dependency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14077" y="3555057"/>
            <a:ext cx="2243956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Requires direct hardware contact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60601" y="3087737"/>
            <a:ext cx="2622724" cy="1053331"/>
          </a:xfrm>
          <a:prstGeom prst="roundRect">
            <a:avLst>
              <a:gd name="adj" fmla="val 8681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551" y="3087737"/>
            <a:ext cx="76200" cy="105333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8560" y="32485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Accessibility Gaps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478560" y="3555057"/>
            <a:ext cx="2243956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Difficult for users with motor limitations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25083" y="3087737"/>
            <a:ext cx="2622724" cy="1053331"/>
          </a:xfrm>
          <a:prstGeom prst="roundRect">
            <a:avLst>
              <a:gd name="adj" fmla="val 8681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033" y="3087737"/>
            <a:ext cx="76200" cy="105333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43042" y="3248546"/>
            <a:ext cx="20864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Smart Environment Limits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243042" y="3555057"/>
            <a:ext cx="2243956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Incompatible with touchless setups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2698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Technologies Used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53493"/>
            <a:ext cx="8151763" cy="2362944"/>
          </a:xfrm>
          <a:prstGeom prst="roundRect">
            <a:avLst>
              <a:gd name="adj" fmla="val 252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758255"/>
            <a:ext cx="8142238" cy="3922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2714" y="1848073"/>
            <a:ext cx="261394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87737" y="1848073"/>
            <a:ext cx="58708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 UI and gesture visualization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0881" y="2150492"/>
            <a:ext cx="8142238" cy="3922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2714" y="2240310"/>
            <a:ext cx="261394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Electron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87737" y="2240310"/>
            <a:ext cx="58708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Cross-platform desktop application wrapper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0881" y="2542729"/>
            <a:ext cx="8142238" cy="3922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2714" y="2632546"/>
            <a:ext cx="261394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MediaPipe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87737" y="2632546"/>
            <a:ext cx="58708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Google's AI framework for real-time hand tracking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0881" y="2934965"/>
            <a:ext cx="8142238" cy="3922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2714" y="3024783"/>
            <a:ext cx="261394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RobotJS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87737" y="3024783"/>
            <a:ext cx="58708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mouse and keyboard control via Node.js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0881" y="3327202"/>
            <a:ext cx="8142238" cy="3922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2714" y="3417019"/>
            <a:ext cx="261394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87737" y="3417019"/>
            <a:ext cx="58708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Runtime environment for backend logic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0881" y="3719438"/>
            <a:ext cx="8142238" cy="3922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2714" y="3809256"/>
            <a:ext cx="261394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87737" y="3809256"/>
            <a:ext cx="58708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Rapid, utility-first UI styling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08446"/>
            <a:ext cx="31152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System Architecture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800174"/>
            <a:ext cx="7793608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pipeline transforms raw webcam input into precise mouse actions in under 30ms — a seamless, real-time loop powered entirely by on-device AI.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418" y="1029370"/>
            <a:ext cx="6545089" cy="35764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33901" y="2705167"/>
            <a:ext cx="1745146" cy="20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Webcam Input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63437" y="2681897"/>
            <a:ext cx="1745146" cy="20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Hand Detection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892687" y="2689348"/>
            <a:ext cx="1745146" cy="20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Landmark Tracking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03759" y="4695527"/>
            <a:ext cx="7793608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stage operates in a continuous loop — as the hand moves, landmarks update, gestures are re-evaluated, and mouse actions respond instantly.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530796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Gesture Mapping</a:t>
            </a:r>
            <a:endParaRPr lang="en-US" sz="26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3501" y="1392287"/>
            <a:ext cx="4888751" cy="29610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9502" y="1245022"/>
            <a:ext cx="2664023" cy="772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gesture is mapped to a specific mouse action. MediaPipe's 21 landmark points enable the system to distinguish subtle finger positions reliably.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19502" y="2157561"/>
            <a:ext cx="2664023" cy="2314947"/>
          </a:xfrm>
          <a:prstGeom prst="roundRect">
            <a:avLst>
              <a:gd name="adj" fmla="val 241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24265" y="2162324"/>
            <a:ext cx="2654498" cy="3520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157243" y="2241798"/>
            <a:ext cx="138350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54119" y="2241798"/>
            <a:ext cx="1648941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Mouse Action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24265" y="2514377"/>
            <a:ext cx="2654498" cy="35205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157243" y="2593851"/>
            <a:ext cx="138350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Index Finger Up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54119" y="2593851"/>
            <a:ext cx="1648941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Move Cursor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24265" y="2866430"/>
            <a:ext cx="2654498" cy="5451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157243" y="2945904"/>
            <a:ext cx="926306" cy="386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Thumb + Index Pinch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54119" y="2945904"/>
            <a:ext cx="1648941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 Click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24265" y="3411587"/>
            <a:ext cx="2654498" cy="35205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157243" y="3491061"/>
            <a:ext cx="138350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Fingers Up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54119" y="3491061"/>
            <a:ext cx="1648941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Right Click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24265" y="3763640"/>
            <a:ext cx="2654498" cy="3520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6157243" y="3843114"/>
            <a:ext cx="138350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Palm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354119" y="3843114"/>
            <a:ext cx="1648941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Scroll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24265" y="4115693"/>
            <a:ext cx="2654498" cy="35205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157243" y="4195167"/>
            <a:ext cx="138350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Fist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354119" y="4195167"/>
            <a:ext cx="1648941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Pause Mouse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44005"/>
            <a:ext cx="498135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Features &amp; Project Structure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4369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Core Features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2382143"/>
            <a:ext cx="212601" cy="212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23777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Hand Detection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56816" y="2684264"/>
            <a:ext cx="3526557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Instant recognition in any lighting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3684" y="2382143"/>
            <a:ext cx="212601" cy="2126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21250" y="23777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Cursor &amp; Click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121250" y="2684264"/>
            <a:ext cx="352663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Smooth movement with left/right click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3184773"/>
            <a:ext cx="212601" cy="2126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6816" y="31803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Scroll Control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956816" y="3486894"/>
            <a:ext cx="3526557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palm gesture for page scrolling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3684" y="3184773"/>
            <a:ext cx="212601" cy="2126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21250" y="3180383"/>
            <a:ext cx="18169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Gesture Customization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121250" y="3486894"/>
            <a:ext cx="352663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Adaptable mappings per user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5679"/>
            <a:ext cx="482151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Applications &amp; Advantages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72183"/>
            <a:ext cx="2312566" cy="14292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47863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Smart Classrooms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785146"/>
            <a:ext cx="39872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Touchless control of presentations and digital boards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553" y="1872183"/>
            <a:ext cx="2312640" cy="14292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347863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Smart Home &amp; TV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3785146"/>
            <a:ext cx="3987329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Navigate devices without a remote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l="22246" r="19537"/>
          <a:stretch>
            <a:fillRect/>
          </a:stretch>
        </p:blipFill>
        <p:spPr>
          <a:xfrm>
            <a:off x="5209097" y="825964"/>
            <a:ext cx="3934903" cy="38337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640" y="409947"/>
            <a:ext cx="5201245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Future Roadmap &amp; Conclusion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80640" y="1038597"/>
            <a:ext cx="549325" cy="823987"/>
          </a:xfrm>
          <a:prstGeom prst="roundRect">
            <a:avLst>
              <a:gd name="adj" fmla="val 360016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314" y="1347564"/>
            <a:ext cx="205978" cy="20597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62943" y="117589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Voice Commands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162943" y="1470199"/>
            <a:ext cx="4071417" cy="20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 speech + gesture for multimodal control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80640" y="1995562"/>
            <a:ext cx="549325" cy="823987"/>
          </a:xfrm>
          <a:prstGeom prst="roundRect">
            <a:avLst>
              <a:gd name="adj" fmla="val 360016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314" y="2304529"/>
            <a:ext cx="205978" cy="2059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62943" y="2132856"/>
            <a:ext cx="199414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Custom Gesture Learning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162943" y="2427163"/>
            <a:ext cx="4071417" cy="20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learns personalized gestures per user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480640" y="2952527"/>
            <a:ext cx="549325" cy="823987"/>
          </a:xfrm>
          <a:prstGeom prst="roundRect">
            <a:avLst>
              <a:gd name="adj" fmla="val 360016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314" y="3261494"/>
            <a:ext cx="205978" cy="20597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62943" y="308982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Multi-Hand Detection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162943" y="3384128"/>
            <a:ext cx="4071417" cy="20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complex two-hand gesture combinations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80640" y="3909492"/>
            <a:ext cx="549325" cy="823987"/>
          </a:xfrm>
          <a:prstGeom prst="roundRect">
            <a:avLst>
              <a:gd name="adj" fmla="val 360016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314" y="4218459"/>
            <a:ext cx="205978" cy="20597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62943" y="4046786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Cloud &amp; Mobile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1162943" y="4341093"/>
            <a:ext cx="4071417" cy="20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Cross-device sync and mobile app support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FD75F-F409-54BC-4F6E-482C9C281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7BC7AB3-D12C-416A-EF7F-24C3CA71CFF2}"/>
              </a:ext>
            </a:extLst>
          </p:cNvPr>
          <p:cNvSpPr/>
          <p:nvPr/>
        </p:nvSpPr>
        <p:spPr>
          <a:xfrm>
            <a:off x="480639" y="409946"/>
            <a:ext cx="8149889" cy="1031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400" dirty="0"/>
              <a:t>Thank You!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CBC8EB7-C71A-F6C4-3869-89EE6B5FCF3E}"/>
              </a:ext>
            </a:extLst>
          </p:cNvPr>
          <p:cNvSpPr/>
          <p:nvPr/>
        </p:nvSpPr>
        <p:spPr>
          <a:xfrm>
            <a:off x="1162943" y="117589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8BFF910-8498-8654-D821-1FC4B998557D}"/>
              </a:ext>
            </a:extLst>
          </p:cNvPr>
          <p:cNvSpPr/>
          <p:nvPr/>
        </p:nvSpPr>
        <p:spPr>
          <a:xfrm>
            <a:off x="1162943" y="2132856"/>
            <a:ext cx="199414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168595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435</Words>
  <Application>Microsoft Office PowerPoint</Application>
  <PresentationFormat>On-screen Show (16:9)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Host Grotesk Medium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KRISHNA PATIL</cp:lastModifiedBy>
  <cp:revision>6</cp:revision>
  <dcterms:created xsi:type="dcterms:W3CDTF">2026-05-21T14:03:09Z</dcterms:created>
  <dcterms:modified xsi:type="dcterms:W3CDTF">2026-05-30T04:00:12Z</dcterms:modified>
</cp:coreProperties>
</file>